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058400" cy="3657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600" b="1">
                <a:solidFill>
                  <a:srgbClr val="F57E20"/>
                </a:solidFill>
                <a:latin typeface="Arial"/>
              </a:rPr>
              <a:t>EDTECH • 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1463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Lớp học ảo giúp học viên học tập liền mạch — từ lịch học đến điểm danh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960120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0">
                <a:solidFill>
                  <a:srgbClr val="E4EDF8"/>
                </a:solidFill>
                <a:latin typeface="Arial"/>
              </a:rPr>
              <a:t>Một không gian học tập kết nối video, chat, tài liệu và chuyên cần.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9160"/>
            <a:ext cx="3017520" cy="685800"/>
          </a:xfrm>
          <a:prstGeom prst="roundRect">
            <a:avLst/>
          </a:prstGeom>
          <a:solidFill>
            <a:srgbClr val="F57E20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55464"/>
            <a:ext cx="26517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400" b="1">
                <a:solidFill>
                  <a:srgbClr val="0E1F3A"/>
                </a:solidFill>
                <a:latin typeface="Arial"/>
              </a:rPr>
              <a:t>SECURE • SIMPLE • TRACKABLE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BBCADD"/>
                </a:solidFill>
                <a:latin typeface="Arial"/>
              </a:rPr>
              <a:t>SRS &amp; lộ trình học tập • Bản mô phỏng • 27/10/2026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57E20"/>
                </a:solidFill>
                <a:latin typeface="Arial"/>
              </a:rPr>
              <a:t>PTIT-LEARNING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Một lớp học ảo gom tương tác, học liệu và theo dõi vào một nơi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36192"/>
            <a:ext cx="1325880" cy="64008"/>
          </a:xfrm>
          <a:prstGeom prst="rect">
            <a:avLst/>
          </a:prstGeom>
          <a:solidFill>
            <a:srgbClr val="F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429000" cy="347472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F57E20"/>
                </a:solidFill>
                <a:latin typeface="Arial"/>
              </a:rPr>
              <a:t>01  KẾT NỐI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880360" cy="1920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rial"/>
              </a:rPr>
              <a:t>• Lịch học rõ ràng</a:t>
            </a:r>
            <a:br/>
            <a:r>
              <a:rPr sz="1900" b="0">
                <a:solidFill>
                  <a:srgbClr val="FFFFFF"/>
                </a:solidFill>
                <a:latin typeface="Arial"/>
              </a:rPr>
              <a:t>• Vào lớp có xác thực</a:t>
            </a:r>
            <a:br/>
            <a:r>
              <a:rPr sz="1900" b="0">
                <a:solidFill>
                  <a:srgbClr val="FFFFFF"/>
                </a:solidFill>
                <a:latin typeface="Arial"/>
              </a:rPr>
              <a:t>• Micro / camera do người dùng kiểm soát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74519"/>
            <a:ext cx="3429000" cy="347472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9260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F57E20"/>
                </a:solidFill>
                <a:latin typeface="Arial"/>
              </a:rPr>
              <a:t>02  TƯƠNG TÁC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2880360" cy="1920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rial"/>
              </a:rPr>
              <a:t>• Chat và câu hỏi</a:t>
            </a:r>
            <a:br/>
            <a:r>
              <a:rPr sz="1900" b="0">
                <a:solidFill>
                  <a:srgbClr val="FFFFFF"/>
                </a:solidFill>
                <a:latin typeface="Arial"/>
              </a:rPr>
              <a:t>• Chia sẻ tài liệu</a:t>
            </a:r>
            <a:br/>
            <a:r>
              <a:rPr sz="1900" b="0">
                <a:solidFill>
                  <a:srgbClr val="FFFFFF"/>
                </a:solidFill>
                <a:latin typeface="Arial"/>
              </a:rPr>
              <a:t>• Danh sách người tham gia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74519"/>
            <a:ext cx="3429000" cy="347472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148840"/>
            <a:ext cx="292608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F57E20"/>
                </a:solidFill>
                <a:latin typeface="Arial"/>
              </a:rPr>
              <a:t>03  ĐÁNH GIÁ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88920"/>
            <a:ext cx="2880360" cy="19202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rial"/>
              </a:rPr>
              <a:t>• Ghi nhận vào / ra lớp</a:t>
            </a:r>
            <a:br/>
            <a:r>
              <a:rPr sz="1900" b="0">
                <a:solidFill>
                  <a:srgbClr val="FFFFFF"/>
                </a:solidFill>
                <a:latin typeface="Arial"/>
              </a:rPr>
              <a:t>• Tính chuyên cần</a:t>
            </a:r>
            <a:br/>
            <a:r>
              <a:rPr sz="1900" b="0">
                <a:solidFill>
                  <a:srgbClr val="FFFFFF"/>
                </a:solidFill>
                <a:latin typeface="Arial"/>
              </a:rPr>
              <a:t>• Báo cáo ngoại lệ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BBCADD"/>
                </a:solidFill>
                <a:latin typeface="Arial"/>
              </a:rPr>
              <a:t>PTIT-LEARNING  •  MODULE LỚP HỌC ẢO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57E20"/>
                </a:solidFill>
                <a:latin typeface="Arial"/>
              </a:rPr>
              <a:t>PTIT-LEARNING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Lộ trình học tập theo luồng rõ ràng, có kiểm tra quyền truy cập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36192"/>
            <a:ext cx="1325880" cy="64008"/>
          </a:xfrm>
          <a:prstGeom prst="rect">
            <a:avLst/>
          </a:prstGeom>
          <a:solidFill>
            <a:srgbClr val="F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011680" cy="77724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Đăng nhập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874519"/>
            <a:ext cx="2194560" cy="77724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Xem lịch học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874519"/>
            <a:ext cx="2194560" cy="777240"/>
          </a:xfrm>
          <a:prstGeom prst="roundRect">
            <a:avLst/>
          </a:prstGeom>
          <a:solidFill>
            <a:srgbClr val="F57E20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E1F3A"/>
                </a:solidFill>
                <a:latin typeface="Arial"/>
              </a:rPr>
              <a:t>Được ghi danh?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417320"/>
            <a:ext cx="2560320" cy="77724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Vào lớp học 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063240"/>
            <a:ext cx="2560320" cy="77724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Báo không có quyền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4617720"/>
            <a:ext cx="2560320" cy="77724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Học • Chat • Tài liệu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617720"/>
            <a:ext cx="2560320" cy="77724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Kết thúc &amp; điểm danh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80" y="2258568"/>
            <a:ext cx="457200" cy="0"/>
          </a:xfrm>
          <a:prstGeom prst="line">
            <a:avLst/>
          </a:prstGeom>
          <a:ln w="25400">
            <a:solidFill>
              <a:srgbClr val="F5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49240" y="2258568"/>
            <a:ext cx="457200" cy="0"/>
          </a:xfrm>
          <a:prstGeom prst="line">
            <a:avLst/>
          </a:prstGeom>
          <a:ln w="25400">
            <a:solidFill>
              <a:srgbClr val="F5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01000" y="1810512"/>
            <a:ext cx="457200" cy="384048"/>
          </a:xfrm>
          <a:prstGeom prst="line">
            <a:avLst/>
          </a:prstGeom>
          <a:ln w="25400">
            <a:solidFill>
              <a:srgbClr val="F5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55279" y="1728216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57E20"/>
                </a:solidFill>
                <a:latin typeface="Arial"/>
              </a:rPr>
              <a:t>Có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03720" y="2651760"/>
            <a:ext cx="1554480" cy="749808"/>
          </a:xfrm>
          <a:prstGeom prst="line">
            <a:avLst/>
          </a:prstGeom>
          <a:ln w="25400">
            <a:solidFill>
              <a:srgbClr val="F5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06640" y="2752344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300" b="1">
                <a:solidFill>
                  <a:srgbClr val="F57E20"/>
                </a:solidFill>
                <a:latin typeface="Arial"/>
              </a:rPr>
              <a:t>Không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38360" y="2194560"/>
            <a:ext cx="0" cy="2423160"/>
          </a:xfrm>
          <a:prstGeom prst="line">
            <a:avLst/>
          </a:prstGeom>
          <a:ln w="25400">
            <a:solidFill>
              <a:srgbClr val="F5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001000" y="5001768"/>
            <a:ext cx="457200" cy="0"/>
          </a:xfrm>
          <a:prstGeom prst="line">
            <a:avLst/>
          </a:prstGeom>
          <a:ln w="25400">
            <a:solidFill>
              <a:srgbClr val="F57E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657600"/>
            <a:ext cx="39319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E4EDF8"/>
                </a:solidFill>
                <a:latin typeface="Arial"/>
              </a:rPr>
              <a:t>Mục tiêu: luồng đơn giản, quyền rõ ràng, điểm danh có lưu vết.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BBCADD"/>
                </a:solidFill>
                <a:latin typeface="Arial"/>
              </a:rPr>
              <a:t>PTIT-LEARNING  •  MODULE LỚP HỌC ẢO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57E20"/>
                </a:solidFill>
                <a:latin typeface="Arial"/>
              </a:rPr>
              <a:t>PTIT-LEARNING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Thiết kế tối ưu khả năng đọc với nền Navy, chữ trắng và Accent cam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36192"/>
            <a:ext cx="1325880" cy="64008"/>
          </a:xfrm>
          <a:prstGeom prst="rect">
            <a:avLst/>
          </a:prstGeom>
          <a:solidFill>
            <a:srgbClr val="F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5943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400" b="1">
                <a:solidFill>
                  <a:srgbClr val="F57E20"/>
                </a:solidFill>
                <a:latin typeface="Arial"/>
              </a:rPr>
              <a:t>TƯƠNG PHẢN 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4846320" cy="12801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rial"/>
              </a:rPr>
              <a:t>Nền tối giảm nhiễu thị giác; tiêu đề trắng nổi bật; màu cam chỉ dùng cho hành động và điểm cần chú ý.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5120640" cy="3337560"/>
          </a:xfrm>
          <a:prstGeom prst="roundRect">
            <a:avLst/>
          </a:prstGeom>
          <a:solidFill>
            <a:srgbClr val="1A3253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48840"/>
            <a:ext cx="438912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700" b="1">
                <a:solidFill>
                  <a:srgbClr val="F57E20"/>
                </a:solidFill>
                <a:latin typeface="Arial"/>
              </a:rPr>
              <a:t>VÍ DỤ THẺ LỚP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88920"/>
            <a:ext cx="438912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rial"/>
              </a:rPr>
              <a:t>Lập trình Web căn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520440"/>
            <a:ext cx="438912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800" b="0">
                <a:solidFill>
                  <a:srgbClr val="E4EDF8"/>
                </a:solidFill>
                <a:latin typeface="Arial"/>
              </a:rPr>
              <a:t>Thứ Ba • 19:00–20:30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251960"/>
            <a:ext cx="2103120" cy="548640"/>
          </a:xfrm>
          <a:prstGeom prst="roundRect">
            <a:avLst/>
          </a:prstGeom>
          <a:solidFill>
            <a:srgbClr val="F57E20"/>
          </a:solidFill>
          <a:ln w="19050">
            <a:solidFill>
              <a:srgbClr val="F57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361688"/>
            <a:ext cx="1874519" cy="256032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ctr"/>
            <a:r>
              <a:rPr sz="1600" b="1">
                <a:solidFill>
                  <a:srgbClr val="0E1F3A"/>
                </a:solidFill>
                <a:latin typeface="Arial"/>
              </a:rPr>
              <a:t>VÀO LỚP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7899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E4EDF8"/>
                </a:solidFill>
                <a:latin typeface="Arial"/>
              </a:rPr>
              <a:t>Quy tắc: không truyền đạt trạng thái chỉ bằng màu; luôn có nhãn chữ.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BBCADD"/>
                </a:solidFill>
                <a:latin typeface="Arial"/>
              </a:rPr>
              <a:t>PTIT-LEARNING  •  MODULE LỚP HỌC ẢO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200" b="1">
                <a:solidFill>
                  <a:srgbClr val="F57E20"/>
                </a:solidFill>
                <a:latin typeface="Arial"/>
              </a:rPr>
              <a:t>PTIT-LEARNING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1064240" cy="82296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Ba ưu tiên phát hành: quyền truy cập, dữ liệu sạch và chuyên cần minh bạch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536192"/>
            <a:ext cx="1325880" cy="64008"/>
          </a:xfrm>
          <a:prstGeom prst="rect">
            <a:avLst/>
          </a:prstGeom>
          <a:solidFill>
            <a:srgbClr val="F57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7315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F57E2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74519"/>
            <a:ext cx="23774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Bảo mật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874519"/>
            <a:ext cx="71323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E4EDF8"/>
                </a:solidFill>
                <a:latin typeface="Arial"/>
              </a:rPr>
              <a:t>Chỉ học viên hợp lệ được vào lớp và xem học liệu.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7315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F57E2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08960"/>
            <a:ext cx="23774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Dữ liệu sạch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108960"/>
            <a:ext cx="71323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E4EDF8"/>
                </a:solidFill>
                <a:latin typeface="Arial"/>
              </a:rPr>
              <a:t>Chuẩn hóa mã học viên, email và tên khi nhập nhiều nguồn.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43400"/>
            <a:ext cx="731520" cy="5486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500" b="1">
                <a:solidFill>
                  <a:srgbClr val="F57E20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343400"/>
            <a:ext cx="23774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rial"/>
              </a:rPr>
              <a:t>Đo lường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343400"/>
            <a:ext cx="7132320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900" b="0">
                <a:solidFill>
                  <a:srgbClr val="E4EDF8"/>
                </a:solidFill>
                <a:latin typeface="Arial"/>
              </a:rPr>
              <a:t>Điểm chuyên cần 0–10; sửa điểm phải kèm lý 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473952"/>
            <a:ext cx="10972800" cy="201168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 algn="l"/>
            <a:r>
              <a:rPr sz="1000" b="0">
                <a:solidFill>
                  <a:srgbClr val="BBCADD"/>
                </a:solidFill>
                <a:latin typeface="Arial"/>
              </a:rPr>
              <a:t>PTIT-LEARNING  •  MODULE LỚP HỌC ẢO                                     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